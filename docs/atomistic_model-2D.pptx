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9" r:id="rId2"/>
    <p:sldId id="273" r:id="rId3"/>
    <p:sldId id="277" r:id="rId4"/>
    <p:sldId id="258" r:id="rId5"/>
    <p:sldId id="278" r:id="rId6"/>
    <p:sldId id="2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248" autoAdjust="0"/>
  </p:normalViewPr>
  <p:slideViewPr>
    <p:cSldViewPr snapToGrid="0">
      <p:cViewPr varScale="1">
        <p:scale>
          <a:sx n="80" d="100"/>
          <a:sy n="80" d="100"/>
        </p:scale>
        <p:origin x="57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feng Zhu" userId="1d9ab7b40b0bda6e" providerId="LiveId" clId="{3B3A6E0C-1CEE-4CBE-92F6-76E88DE38F48}"/>
    <pc:docChg chg="modSld sldOrd">
      <pc:chgData name="Zhifeng Zhu" userId="1d9ab7b40b0bda6e" providerId="LiveId" clId="{3B3A6E0C-1CEE-4CBE-92F6-76E88DE38F48}" dt="2026-06-09T02:13:56.223" v="3"/>
      <pc:docMkLst>
        <pc:docMk/>
      </pc:docMkLst>
      <pc:sldChg chg="ord">
        <pc:chgData name="Zhifeng Zhu" userId="1d9ab7b40b0bda6e" providerId="LiveId" clId="{3B3A6E0C-1CEE-4CBE-92F6-76E88DE38F48}" dt="2026-06-09T02:13:55.117" v="1"/>
        <pc:sldMkLst>
          <pc:docMk/>
          <pc:sldMk cId="3304841654" sldId="273"/>
        </pc:sldMkLst>
      </pc:sldChg>
      <pc:sldChg chg="ord">
        <pc:chgData name="Zhifeng Zhu" userId="1d9ab7b40b0bda6e" providerId="LiveId" clId="{3B3A6E0C-1CEE-4CBE-92F6-76E88DE38F48}" dt="2026-06-09T02:13:56.223" v="3"/>
        <pc:sldMkLst>
          <pc:docMk/>
          <pc:sldMk cId="32828829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832E2-54F3-44F9-A963-AF4D65901AE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BCEB7-E52F-48DE-A3D5-FE409BE75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03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A33C1-6635-488E-9AD5-09007427EA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45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A33C1-6635-488E-9AD5-09007427EA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5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COSMAL 3D plot code (</a:t>
            </a:r>
            <a:r>
              <a:rPr lang="en-US" altLang="zh-CN" dirty="0" err="1">
                <a:solidFill>
                  <a:srgbClr val="0000FF"/>
                </a:solidFill>
              </a:rPr>
              <a:t>github</a:t>
            </a:r>
            <a:r>
              <a:rPr lang="en-US" altLang="zh-CN" dirty="0">
                <a:solidFill>
                  <a:srgbClr val="0000FF"/>
                </a:solidFill>
              </a:rPr>
              <a:t>): https://github.com/zhuzibn/general/tree/master/3D_vector_plot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A33C1-6635-488E-9AD5-09007427EA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20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To generate the comparison figures, see C:\Users\zzf-m\OneDrive\code_softwares\atomistic_model\2D\docs\compare_plot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A33C1-6635-488E-9AD5-09007427EA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07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AF78E-BDE7-44C8-B4E7-7FBB7D6D95B9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3871D-D783-4F7C-9514-99CDA8C957E0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4D059-6748-4BDE-804A-2BF865748A64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6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71D1-67FA-4FB3-94C8-F13941AA4D10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39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AF458-5581-4526-B425-EA3703CC9CAA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1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D3A1-743E-4750-A01D-F166A40611B8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57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2D02-EEFD-48EC-865C-2ECE64C8716A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8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2DC8D-6EE1-4ED0-AF75-1159D1F4F700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D1B6-8D4E-4C6C-8D26-1172858468C7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61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0EBC-7AA1-4B3E-9C1C-A629A9E279DF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56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1439-90F1-49FD-AF1E-64F94E1D2DBB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8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F94C4-0A6F-48A3-AAF0-30393E7A8537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1515EF43-983D-4372-9D92-A60BC6962E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93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.png"/><Relationship Id="rId26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png"/><Relationship Id="rId25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image" Target="../media/image1.png"/><Relationship Id="rId20" Type="http://schemas.openxmlformats.org/officeDocument/2006/relationships/image" Target="../media/image5.png"/><Relationship Id="rId29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8.png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7.png"/><Relationship Id="rId27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444063" y="195795"/>
            <a:ext cx="3854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2D </a:t>
            </a:r>
            <a:r>
              <a:rPr lang="en-US" sz="3600" dirty="0"/>
              <a:t>Atomistic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525" y="1097036"/>
            <a:ext cx="54353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2D square lattice*, assume lattice constant is 0.5 nm 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Co</a:t>
            </a:r>
            <a:r>
              <a:rPr lang="en-US" altLang="zh-CN" baseline="-25000" dirty="0"/>
              <a:t>0.7</a:t>
            </a:r>
            <a:r>
              <a:rPr lang="en-US" altLang="zh-CN" dirty="0"/>
              <a:t>Gd</a:t>
            </a:r>
            <a:r>
              <a:rPr lang="en-US" altLang="zh-CN" baseline="-25000" dirty="0"/>
              <a:t>0.3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red for Gd, </a:t>
            </a:r>
            <a:r>
              <a:rPr lang="en-US" altLang="zh-CN" dirty="0">
                <a:solidFill>
                  <a:srgbClr val="0000FF"/>
                </a:solidFill>
              </a:rPr>
              <a:t>blue for Co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Atoms are r</a:t>
            </a:r>
            <a:r>
              <a:rPr lang="en-US" altLang="zh-CN" dirty="0"/>
              <a:t>andomly distributed</a:t>
            </a:r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DB3A99-F123-4CD3-92BB-FEEDF0A6FB55}"/>
              </a:ext>
            </a:extLst>
          </p:cNvPr>
          <p:cNvCxnSpPr/>
          <p:nvPr/>
        </p:nvCxnSpPr>
        <p:spPr>
          <a:xfrm>
            <a:off x="444063" y="899086"/>
            <a:ext cx="10424160" cy="0"/>
          </a:xfrm>
          <a:prstGeom prst="line">
            <a:avLst/>
          </a:prstGeom>
          <a:ln w="76200">
            <a:gradFill>
              <a:gsLst>
                <a:gs pos="0">
                  <a:srgbClr val="0000FF">
                    <a:alpha val="80000"/>
                  </a:srgbClr>
                </a:gs>
                <a:gs pos="50000">
                  <a:srgbClr val="008080">
                    <a:alpha val="80000"/>
                  </a:srgbClr>
                </a:gs>
                <a:gs pos="100000">
                  <a:srgbClr val="66FF66">
                    <a:alpha val="8000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78DF9281-1751-3DC3-7E24-55333AD2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071F6-AF49-2BCD-3684-0D37CB8FC52E}"/>
              </a:ext>
            </a:extLst>
          </p:cNvPr>
          <p:cNvSpPr txBox="1"/>
          <p:nvPr/>
        </p:nvSpPr>
        <p:spPr>
          <a:xfrm>
            <a:off x="196957" y="6382921"/>
            <a:ext cx="6075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 note: 2D square lattice is commonly used for system with DMI [1,2,3]</a:t>
            </a:r>
          </a:p>
        </p:txBody>
      </p:sp>
    </p:spTree>
    <p:extLst>
      <p:ext uri="{BB962C8B-B14F-4D97-AF65-F5344CB8AC3E}">
        <p14:creationId xmlns:p14="http://schemas.microsoft.com/office/powerpoint/2010/main" val="314625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2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03425" y="275445"/>
            <a:ext cx="2706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Methodology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926" y="2073205"/>
            <a:ext cx="1852952" cy="5622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09" y="1114083"/>
            <a:ext cx="5341470" cy="3853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3074" y="586808"/>
            <a:ext cx="35530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Referring to Dropbox\</a:t>
            </a:r>
            <a:r>
              <a:rPr lang="en-US" dirty="0" err="1">
                <a:solidFill>
                  <a:srgbClr val="0000FF"/>
                </a:solidFill>
              </a:rPr>
              <a:t>phd</a:t>
            </a:r>
            <a:r>
              <a:rPr lang="en-US" dirty="0">
                <a:solidFill>
                  <a:srgbClr val="0000FF"/>
                </a:solidFill>
              </a:rPr>
              <a:t>\presentations\summary-atomistic model.ppt, 2D model</a:t>
            </a:r>
            <a:endParaRPr lang="en-US" baseline="-25000" dirty="0">
              <a:solidFill>
                <a:srgbClr val="0000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479" y="2087989"/>
            <a:ext cx="1434859" cy="5343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83" y="1720432"/>
            <a:ext cx="4715408" cy="95758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279" y="3012014"/>
            <a:ext cx="2178253" cy="65104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503" y="3647837"/>
            <a:ext cx="2143268" cy="641916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>
            <a:off x="4510084" y="3197045"/>
            <a:ext cx="679268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544285" y="3962586"/>
            <a:ext cx="679268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Picture 7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837" y="4456032"/>
            <a:ext cx="6248100" cy="414112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83" y="4364057"/>
            <a:ext cx="4212884" cy="467118"/>
          </a:xfrm>
          <a:prstGeom prst="rect">
            <a:avLst/>
          </a:prstGeom>
        </p:spPr>
      </p:pic>
      <p:cxnSp>
        <p:nvCxnSpPr>
          <p:cNvPr id="81" name="Straight Arrow Connector 80"/>
          <p:cNvCxnSpPr/>
          <p:nvPr/>
        </p:nvCxnSpPr>
        <p:spPr>
          <a:xfrm>
            <a:off x="4719852" y="4575217"/>
            <a:ext cx="679268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8" y="5094507"/>
            <a:ext cx="3865026" cy="510184"/>
          </a:xfrm>
          <a:prstGeom prst="rect">
            <a:avLst/>
          </a:prstGeom>
        </p:spPr>
      </p:pic>
      <p:cxnSp>
        <p:nvCxnSpPr>
          <p:cNvPr id="89" name="Straight Arrow Connector 88"/>
          <p:cNvCxnSpPr/>
          <p:nvPr/>
        </p:nvCxnSpPr>
        <p:spPr>
          <a:xfrm>
            <a:off x="4620781" y="5326909"/>
            <a:ext cx="34689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9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679" y="5079844"/>
            <a:ext cx="4441468" cy="510184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425" y="2956235"/>
            <a:ext cx="2292336" cy="540000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835" y="3694676"/>
            <a:ext cx="2450532" cy="54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650" y="6441410"/>
            <a:ext cx="5133513" cy="2272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1" y="5955404"/>
            <a:ext cx="1766929" cy="5881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371925" y="6080222"/>
            <a:ext cx="523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[5]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210B75-8EB5-469C-8DDE-ACE67C3A04F9}"/>
              </a:ext>
            </a:extLst>
          </p:cNvPr>
          <p:cNvCxnSpPr/>
          <p:nvPr/>
        </p:nvCxnSpPr>
        <p:spPr>
          <a:xfrm>
            <a:off x="444063" y="899086"/>
            <a:ext cx="10424160" cy="0"/>
          </a:xfrm>
          <a:prstGeom prst="line">
            <a:avLst/>
          </a:prstGeom>
          <a:ln w="76200">
            <a:gradFill>
              <a:gsLst>
                <a:gs pos="0">
                  <a:srgbClr val="0000FF">
                    <a:alpha val="80000"/>
                  </a:srgbClr>
                </a:gs>
                <a:gs pos="50000">
                  <a:srgbClr val="008080">
                    <a:alpha val="80000"/>
                  </a:srgbClr>
                </a:gs>
                <a:gs pos="100000">
                  <a:srgbClr val="66FF66">
                    <a:alpha val="8000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84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81526" y="252755"/>
            <a:ext cx="5314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Ordering in the W direction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BB60C02-1F27-4652-9B10-B8EA0792A4C5}"/>
              </a:ext>
            </a:extLst>
          </p:cNvPr>
          <p:cNvCxnSpPr/>
          <p:nvPr/>
        </p:nvCxnSpPr>
        <p:spPr>
          <a:xfrm>
            <a:off x="444063" y="899086"/>
            <a:ext cx="10424160" cy="0"/>
          </a:xfrm>
          <a:prstGeom prst="line">
            <a:avLst/>
          </a:prstGeom>
          <a:ln w="76200">
            <a:gradFill>
              <a:gsLst>
                <a:gs pos="0">
                  <a:srgbClr val="0000FF">
                    <a:alpha val="80000"/>
                  </a:srgbClr>
                </a:gs>
                <a:gs pos="50000">
                  <a:srgbClr val="008080">
                    <a:alpha val="80000"/>
                  </a:srgbClr>
                </a:gs>
                <a:gs pos="100000">
                  <a:srgbClr val="66FF66">
                    <a:alpha val="8000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1B5058-2B90-23DF-7107-E87CA8D8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3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11BDD28-45A6-C4F5-D14D-092254F89DCB}"/>
              </a:ext>
            </a:extLst>
          </p:cNvPr>
          <p:cNvGrpSpPr/>
          <p:nvPr/>
        </p:nvGrpSpPr>
        <p:grpSpPr>
          <a:xfrm>
            <a:off x="4459798" y="1190263"/>
            <a:ext cx="2631652" cy="1955684"/>
            <a:chOff x="570186" y="1545417"/>
            <a:chExt cx="2631652" cy="195568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2E41D9-89B3-1064-AE50-740A6BBBB165}"/>
                </a:ext>
              </a:extLst>
            </p:cNvPr>
            <p:cNvSpPr/>
            <p:nvPr/>
          </p:nvSpPr>
          <p:spPr>
            <a:xfrm>
              <a:off x="1308383" y="204311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9544B1-D1C2-3E8C-F16B-A58A3B4EBC3C}"/>
                </a:ext>
              </a:extLst>
            </p:cNvPr>
            <p:cNvSpPr/>
            <p:nvPr/>
          </p:nvSpPr>
          <p:spPr>
            <a:xfrm>
              <a:off x="1687074" y="204311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0708CD-2361-8F3E-7F29-511E76842C91}"/>
                </a:ext>
              </a:extLst>
            </p:cNvPr>
            <p:cNvSpPr/>
            <p:nvPr/>
          </p:nvSpPr>
          <p:spPr>
            <a:xfrm>
              <a:off x="2065765" y="204311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6E22AB-5645-9679-5D56-4110574EAB59}"/>
                </a:ext>
              </a:extLst>
            </p:cNvPr>
            <p:cNvSpPr/>
            <p:nvPr/>
          </p:nvSpPr>
          <p:spPr>
            <a:xfrm>
              <a:off x="2444456" y="204311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1FC35E-1D9A-4F17-D84B-EA91E7D8C0E0}"/>
                </a:ext>
              </a:extLst>
            </p:cNvPr>
            <p:cNvSpPr/>
            <p:nvPr/>
          </p:nvSpPr>
          <p:spPr>
            <a:xfrm>
              <a:off x="1308383" y="240761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7C2D48-760D-84FD-0BA3-E9148F50350E}"/>
                </a:ext>
              </a:extLst>
            </p:cNvPr>
            <p:cNvSpPr/>
            <p:nvPr/>
          </p:nvSpPr>
          <p:spPr>
            <a:xfrm>
              <a:off x="1687074" y="2407610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EB8082-E9D9-2742-361F-43EE76C18AB0}"/>
                </a:ext>
              </a:extLst>
            </p:cNvPr>
            <p:cNvSpPr/>
            <p:nvPr/>
          </p:nvSpPr>
          <p:spPr>
            <a:xfrm>
              <a:off x="2065765" y="240761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A134A9-668C-CED4-A23A-4FAF9F86CCB5}"/>
                </a:ext>
              </a:extLst>
            </p:cNvPr>
            <p:cNvSpPr/>
            <p:nvPr/>
          </p:nvSpPr>
          <p:spPr>
            <a:xfrm>
              <a:off x="2444456" y="2407610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3D1F20-7E96-3968-38C6-8D9F997A0491}"/>
                </a:ext>
              </a:extLst>
            </p:cNvPr>
            <p:cNvSpPr/>
            <p:nvPr/>
          </p:nvSpPr>
          <p:spPr>
            <a:xfrm>
              <a:off x="1308383" y="2772107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740A5E-65F8-B678-8CA8-B63A46847717}"/>
                </a:ext>
              </a:extLst>
            </p:cNvPr>
            <p:cNvSpPr/>
            <p:nvPr/>
          </p:nvSpPr>
          <p:spPr>
            <a:xfrm>
              <a:off x="1687074" y="2772106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2CFACF-B9F7-A6C7-3B86-337E5BE68528}"/>
                </a:ext>
              </a:extLst>
            </p:cNvPr>
            <p:cNvSpPr/>
            <p:nvPr/>
          </p:nvSpPr>
          <p:spPr>
            <a:xfrm>
              <a:off x="2065765" y="2772107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772DD8C-49C7-182C-0B76-E7E7CB47B16C}"/>
                </a:ext>
              </a:extLst>
            </p:cNvPr>
            <p:cNvSpPr/>
            <p:nvPr/>
          </p:nvSpPr>
          <p:spPr>
            <a:xfrm>
              <a:off x="2444456" y="2772106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4998BD9-8731-2C1E-BB44-47F8173B2673}"/>
                </a:ext>
              </a:extLst>
            </p:cNvPr>
            <p:cNvSpPr/>
            <p:nvPr/>
          </p:nvSpPr>
          <p:spPr>
            <a:xfrm>
              <a:off x="1308383" y="313660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5E25550-06C5-3CF5-B284-41EA29F63895}"/>
                </a:ext>
              </a:extLst>
            </p:cNvPr>
            <p:cNvSpPr/>
            <p:nvPr/>
          </p:nvSpPr>
          <p:spPr>
            <a:xfrm>
              <a:off x="1687074" y="313660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015C5B6-6EEE-74B3-6E07-C634AC8E9B74}"/>
                </a:ext>
              </a:extLst>
            </p:cNvPr>
            <p:cNvSpPr/>
            <p:nvPr/>
          </p:nvSpPr>
          <p:spPr>
            <a:xfrm>
              <a:off x="2065765" y="313660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1D95137-BB08-1587-5400-8F54CE273B08}"/>
                </a:ext>
              </a:extLst>
            </p:cNvPr>
            <p:cNvSpPr/>
            <p:nvPr/>
          </p:nvSpPr>
          <p:spPr>
            <a:xfrm>
              <a:off x="2444456" y="313660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7EB394-80B9-D9C6-8DA1-7C6A439642FD}"/>
                </a:ext>
              </a:extLst>
            </p:cNvPr>
            <p:cNvSpPr/>
            <p:nvPr/>
          </p:nvSpPr>
          <p:spPr>
            <a:xfrm>
              <a:off x="2823147" y="204311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40C9019-8BB2-CBF1-066B-C4528231A854}"/>
                </a:ext>
              </a:extLst>
            </p:cNvPr>
            <p:cNvSpPr/>
            <p:nvPr/>
          </p:nvSpPr>
          <p:spPr>
            <a:xfrm>
              <a:off x="2823147" y="2407610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A4C7283-137A-7F66-4DE4-EE28831F2D40}"/>
                </a:ext>
              </a:extLst>
            </p:cNvPr>
            <p:cNvSpPr/>
            <p:nvPr/>
          </p:nvSpPr>
          <p:spPr>
            <a:xfrm>
              <a:off x="2823147" y="2772106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C0745A-6600-F4D5-2BE5-FD3AB3C4A32C}"/>
                </a:ext>
              </a:extLst>
            </p:cNvPr>
            <p:cNvSpPr/>
            <p:nvPr/>
          </p:nvSpPr>
          <p:spPr>
            <a:xfrm>
              <a:off x="2823147" y="313660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54B90A3-D858-8F1E-576A-E3CA2C651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5298" y="2500324"/>
              <a:ext cx="0" cy="543564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99561EB-AA0E-E032-2007-84CF2A8796F9}"/>
                </a:ext>
              </a:extLst>
            </p:cNvPr>
            <p:cNvCxnSpPr/>
            <p:nvPr/>
          </p:nvCxnSpPr>
          <p:spPr>
            <a:xfrm>
              <a:off x="1852096" y="1914749"/>
              <a:ext cx="868441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4A8602-A689-43B6-087E-86AF0037E7CA}"/>
                </a:ext>
              </a:extLst>
            </p:cNvPr>
            <p:cNvSpPr txBox="1"/>
            <p:nvPr/>
          </p:nvSpPr>
          <p:spPr>
            <a:xfrm>
              <a:off x="570186" y="2659566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W</a:t>
              </a:r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81BDC8E-E6B8-2511-CBF3-A73276A40CAA}"/>
                </a:ext>
              </a:extLst>
            </p:cNvPr>
            <p:cNvSpPr txBox="1"/>
            <p:nvPr/>
          </p:nvSpPr>
          <p:spPr>
            <a:xfrm>
              <a:off x="2548073" y="1545417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B005208-12DB-9A2C-7DF0-4B109293700D}"/>
              </a:ext>
            </a:extLst>
          </p:cNvPr>
          <p:cNvSpPr txBox="1"/>
          <p:nvPr/>
        </p:nvSpPr>
        <p:spPr>
          <a:xfrm>
            <a:off x="196957" y="1107617"/>
            <a:ext cx="300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Matrix numbering in MATLAB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68C054-879A-79AD-D9D5-015F07785A2C}"/>
              </a:ext>
            </a:extLst>
          </p:cNvPr>
          <p:cNvGrpSpPr/>
          <p:nvPr/>
        </p:nvGrpSpPr>
        <p:grpSpPr>
          <a:xfrm>
            <a:off x="831805" y="1516255"/>
            <a:ext cx="2305223" cy="1793925"/>
            <a:chOff x="785969" y="2815086"/>
            <a:chExt cx="2305223" cy="179392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189AF11-00F5-5C27-3415-10774CCCDD94}"/>
                </a:ext>
              </a:extLst>
            </p:cNvPr>
            <p:cNvSpPr/>
            <p:nvPr/>
          </p:nvSpPr>
          <p:spPr>
            <a:xfrm>
              <a:off x="936812" y="298679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2E85271-BC33-6CA4-318D-B8AA5E1210CC}"/>
                </a:ext>
              </a:extLst>
            </p:cNvPr>
            <p:cNvSpPr/>
            <p:nvPr/>
          </p:nvSpPr>
          <p:spPr>
            <a:xfrm>
              <a:off x="1315503" y="298679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89F766C-8D23-9127-70C8-84A750D8B99B}"/>
                </a:ext>
              </a:extLst>
            </p:cNvPr>
            <p:cNvSpPr/>
            <p:nvPr/>
          </p:nvSpPr>
          <p:spPr>
            <a:xfrm>
              <a:off x="1694194" y="298679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4493C7D-1491-4DD0-A2B8-E0F51EFF51F5}"/>
                </a:ext>
              </a:extLst>
            </p:cNvPr>
            <p:cNvSpPr/>
            <p:nvPr/>
          </p:nvSpPr>
          <p:spPr>
            <a:xfrm>
              <a:off x="2072885" y="298679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7E36157-207F-5822-CDE0-2EC9274B94A2}"/>
                </a:ext>
              </a:extLst>
            </p:cNvPr>
            <p:cNvSpPr/>
            <p:nvPr/>
          </p:nvSpPr>
          <p:spPr>
            <a:xfrm>
              <a:off x="936812" y="335128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B7165D-897D-3F5E-DBD8-19C2DACDB1F5}"/>
                </a:ext>
              </a:extLst>
            </p:cNvPr>
            <p:cNvSpPr/>
            <p:nvPr/>
          </p:nvSpPr>
          <p:spPr>
            <a:xfrm>
              <a:off x="1315503" y="3351288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4058511-0599-4C20-499B-C37A40401E43}"/>
                </a:ext>
              </a:extLst>
            </p:cNvPr>
            <p:cNvSpPr/>
            <p:nvPr/>
          </p:nvSpPr>
          <p:spPr>
            <a:xfrm>
              <a:off x="1694194" y="335128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41F48E2-D10F-25F9-8AA4-6468374450C5}"/>
                </a:ext>
              </a:extLst>
            </p:cNvPr>
            <p:cNvSpPr/>
            <p:nvPr/>
          </p:nvSpPr>
          <p:spPr>
            <a:xfrm>
              <a:off x="2072885" y="3351288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26E7DB2-B962-1DA0-E697-50DF218485FA}"/>
                </a:ext>
              </a:extLst>
            </p:cNvPr>
            <p:cNvSpPr/>
            <p:nvPr/>
          </p:nvSpPr>
          <p:spPr>
            <a:xfrm>
              <a:off x="936812" y="371578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7869E02-A979-9028-7BFF-A0C960E83C42}"/>
                </a:ext>
              </a:extLst>
            </p:cNvPr>
            <p:cNvSpPr/>
            <p:nvPr/>
          </p:nvSpPr>
          <p:spPr>
            <a:xfrm>
              <a:off x="1315503" y="371578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F685135-93C5-9D06-CB66-B5FC3F613AB9}"/>
                </a:ext>
              </a:extLst>
            </p:cNvPr>
            <p:cNvSpPr/>
            <p:nvPr/>
          </p:nvSpPr>
          <p:spPr>
            <a:xfrm>
              <a:off x="1694194" y="371578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5A3A2EB-973E-839F-DFF6-4E1A670EF3D2}"/>
                </a:ext>
              </a:extLst>
            </p:cNvPr>
            <p:cNvSpPr/>
            <p:nvPr/>
          </p:nvSpPr>
          <p:spPr>
            <a:xfrm>
              <a:off x="2072885" y="371578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98A077C-7C9C-095A-8DCB-D017593D344A}"/>
                </a:ext>
              </a:extLst>
            </p:cNvPr>
            <p:cNvSpPr/>
            <p:nvPr/>
          </p:nvSpPr>
          <p:spPr>
            <a:xfrm>
              <a:off x="936812" y="408028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42F6687-86D9-BF50-F98F-11A14E5EEE44}"/>
                </a:ext>
              </a:extLst>
            </p:cNvPr>
            <p:cNvSpPr/>
            <p:nvPr/>
          </p:nvSpPr>
          <p:spPr>
            <a:xfrm>
              <a:off x="1315503" y="408028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92A6970-A3F5-8C74-CBC7-5443558E30A7}"/>
                </a:ext>
              </a:extLst>
            </p:cNvPr>
            <p:cNvSpPr/>
            <p:nvPr/>
          </p:nvSpPr>
          <p:spPr>
            <a:xfrm>
              <a:off x="1694194" y="408028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C37084F-7F86-84B4-1CB3-AAD36A780989}"/>
                </a:ext>
              </a:extLst>
            </p:cNvPr>
            <p:cNvSpPr/>
            <p:nvPr/>
          </p:nvSpPr>
          <p:spPr>
            <a:xfrm>
              <a:off x="2072885" y="408028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4856051-2B01-399D-7840-C364689AA066}"/>
                </a:ext>
              </a:extLst>
            </p:cNvPr>
            <p:cNvSpPr/>
            <p:nvPr/>
          </p:nvSpPr>
          <p:spPr>
            <a:xfrm>
              <a:off x="2451576" y="298679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B22F0A7-3E73-FB38-FC1E-62125F099705}"/>
                </a:ext>
              </a:extLst>
            </p:cNvPr>
            <p:cNvSpPr/>
            <p:nvPr/>
          </p:nvSpPr>
          <p:spPr>
            <a:xfrm>
              <a:off x="2451576" y="3351288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F0985A5-9021-B469-1DA8-25730F815D06}"/>
                </a:ext>
              </a:extLst>
            </p:cNvPr>
            <p:cNvSpPr/>
            <p:nvPr/>
          </p:nvSpPr>
          <p:spPr>
            <a:xfrm>
              <a:off x="2451576" y="371578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6745D90-D80F-3147-DE81-6C5B7DC948B0}"/>
                </a:ext>
              </a:extLst>
            </p:cNvPr>
            <p:cNvSpPr/>
            <p:nvPr/>
          </p:nvSpPr>
          <p:spPr>
            <a:xfrm>
              <a:off x="2451576" y="408028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F08911F-0FDC-2B29-F2A3-6F9C3917E5B7}"/>
                </a:ext>
              </a:extLst>
            </p:cNvPr>
            <p:cNvSpPr txBox="1"/>
            <p:nvPr/>
          </p:nvSpPr>
          <p:spPr>
            <a:xfrm>
              <a:off x="785969" y="281508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3D8B23F-454F-0451-A69A-D856CBA08D8E}"/>
                </a:ext>
              </a:extLst>
            </p:cNvPr>
            <p:cNvSpPr txBox="1"/>
            <p:nvPr/>
          </p:nvSpPr>
          <p:spPr>
            <a:xfrm>
              <a:off x="792822" y="3171147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2,1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08AE252-9CFD-855B-B742-01994491E2EB}"/>
                </a:ext>
              </a:extLst>
            </p:cNvPr>
            <p:cNvSpPr txBox="1"/>
            <p:nvPr/>
          </p:nvSpPr>
          <p:spPr>
            <a:xfrm>
              <a:off x="787663" y="3531648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3,1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3603A4E-F8EB-6CE4-4377-338A1DA326FA}"/>
                </a:ext>
              </a:extLst>
            </p:cNvPr>
            <p:cNvSpPr txBox="1"/>
            <p:nvPr/>
          </p:nvSpPr>
          <p:spPr>
            <a:xfrm>
              <a:off x="794516" y="388770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4,1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9D2E0D-19E6-D33A-ABE8-B56099544B0F}"/>
                </a:ext>
              </a:extLst>
            </p:cNvPr>
            <p:cNvSpPr txBox="1"/>
            <p:nvPr/>
          </p:nvSpPr>
          <p:spPr>
            <a:xfrm>
              <a:off x="1178839" y="281508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1,2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153CFC8-4804-C767-5B58-B13968A8E87E}"/>
                </a:ext>
              </a:extLst>
            </p:cNvPr>
            <p:cNvSpPr txBox="1"/>
            <p:nvPr/>
          </p:nvSpPr>
          <p:spPr>
            <a:xfrm>
              <a:off x="785969" y="423967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5,1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4A01E2A-D7FC-6034-4209-3C086FCEB564}"/>
                </a:ext>
              </a:extLst>
            </p:cNvPr>
            <p:cNvSpPr txBox="1"/>
            <p:nvPr/>
          </p:nvSpPr>
          <p:spPr>
            <a:xfrm>
              <a:off x="2215445" y="2815275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7E9A726-3C84-1AA2-1B30-4FB1D0C456D8}"/>
                </a:ext>
              </a:extLst>
            </p:cNvPr>
            <p:cNvSpPr txBox="1"/>
            <p:nvPr/>
          </p:nvSpPr>
          <p:spPr>
            <a:xfrm>
              <a:off x="2614780" y="2819331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1,6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EDDE9D4-4BC7-98EE-F824-367101EA24A8}"/>
              </a:ext>
            </a:extLst>
          </p:cNvPr>
          <p:cNvSpPr txBox="1"/>
          <p:nvPr/>
        </p:nvSpPr>
        <p:spPr>
          <a:xfrm>
            <a:off x="778330" y="3888168"/>
            <a:ext cx="7539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Note that the ordering of W is opposite to the ordering of matrix numbering in </a:t>
            </a:r>
            <a:r>
              <a:rPr lang="en-US" dirty="0" err="1"/>
              <a:t>matlab</a:t>
            </a:r>
            <a:r>
              <a:rPr lang="en-US" dirty="0"/>
              <a:t>, this is to ensure the increasing direction of W is identical to the positive direction of y direction, e.g., </a:t>
            </a:r>
            <a:r>
              <a:rPr lang="en-US" b="1" dirty="0"/>
              <a:t>m</a:t>
            </a:r>
            <a:r>
              <a:rPr lang="en-US" baseline="-25000" dirty="0"/>
              <a:t>y</a:t>
            </a:r>
            <a:r>
              <a:rPr lang="en-US" dirty="0"/>
              <a:t>, </a:t>
            </a:r>
            <a:r>
              <a:rPr lang="en-US" b="1" dirty="0"/>
              <a:t>H</a:t>
            </a:r>
            <a:r>
              <a:rPr lang="en-US" baseline="-25000" dirty="0"/>
              <a:t>y</a:t>
            </a:r>
            <a:r>
              <a:rPr lang="en-US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32828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444063" y="195795"/>
            <a:ext cx="2060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Plot order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6957" y="1107617"/>
            <a:ext cx="300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Matrix numbering in MATLAB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3201167-F714-628F-7115-C4A34BD85E4B}"/>
              </a:ext>
            </a:extLst>
          </p:cNvPr>
          <p:cNvGrpSpPr/>
          <p:nvPr/>
        </p:nvGrpSpPr>
        <p:grpSpPr>
          <a:xfrm>
            <a:off x="831805" y="1516255"/>
            <a:ext cx="2305223" cy="1793925"/>
            <a:chOff x="785969" y="2815086"/>
            <a:chExt cx="2305223" cy="1793925"/>
          </a:xfrm>
        </p:grpSpPr>
        <p:sp>
          <p:nvSpPr>
            <p:cNvPr id="3" name="Rectangle 2"/>
            <p:cNvSpPr/>
            <p:nvPr/>
          </p:nvSpPr>
          <p:spPr>
            <a:xfrm>
              <a:off x="936812" y="298679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315503" y="298679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694194" y="298679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072885" y="298679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36812" y="335128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315503" y="3351288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694194" y="335128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072885" y="3351288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36812" y="371578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315503" y="371578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694194" y="371578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072885" y="371578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36812" y="408028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15503" y="408028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694194" y="408028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72885" y="408028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451576" y="298679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451576" y="3351288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451576" y="3715784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451576" y="4080281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85969" y="281508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1,1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2822" y="3171147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2,1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87663" y="3531648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3,1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94516" y="388770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4,1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78839" y="281508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85969" y="423967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5,1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215445" y="2815275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1,5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14780" y="2819331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1,6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DB3A99-F123-4CD3-92BB-FEEDF0A6FB55}"/>
              </a:ext>
            </a:extLst>
          </p:cNvPr>
          <p:cNvCxnSpPr/>
          <p:nvPr/>
        </p:nvCxnSpPr>
        <p:spPr>
          <a:xfrm>
            <a:off x="444063" y="899086"/>
            <a:ext cx="10424160" cy="0"/>
          </a:xfrm>
          <a:prstGeom prst="line">
            <a:avLst/>
          </a:prstGeom>
          <a:ln w="76200">
            <a:gradFill>
              <a:gsLst>
                <a:gs pos="0">
                  <a:srgbClr val="0000FF">
                    <a:alpha val="80000"/>
                  </a:srgbClr>
                </a:gs>
                <a:gs pos="50000">
                  <a:srgbClr val="008080">
                    <a:alpha val="80000"/>
                  </a:srgbClr>
                </a:gs>
                <a:gs pos="100000">
                  <a:srgbClr val="66FF66">
                    <a:alpha val="8000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78DF9281-1751-3DC3-7E24-55333AD2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4</a:t>
            </a:fld>
            <a:endParaRPr lang="en-US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5E7C62C-AC14-D2C9-064E-5827876A7380}"/>
              </a:ext>
            </a:extLst>
          </p:cNvPr>
          <p:cNvGrpSpPr/>
          <p:nvPr/>
        </p:nvGrpSpPr>
        <p:grpSpPr>
          <a:xfrm>
            <a:off x="4652695" y="1559596"/>
            <a:ext cx="2305223" cy="1793925"/>
            <a:chOff x="4606859" y="2858427"/>
            <a:chExt cx="2305223" cy="1793925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37D1EBE-BFF3-B614-7593-EF1C0A615F1D}"/>
                </a:ext>
              </a:extLst>
            </p:cNvPr>
            <p:cNvSpPr/>
            <p:nvPr/>
          </p:nvSpPr>
          <p:spPr>
            <a:xfrm>
              <a:off x="4757702" y="303013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A6D5932-5665-FED1-5FF3-B525BEE03A0D}"/>
                </a:ext>
              </a:extLst>
            </p:cNvPr>
            <p:cNvSpPr/>
            <p:nvPr/>
          </p:nvSpPr>
          <p:spPr>
            <a:xfrm>
              <a:off x="5136393" y="303013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3723856-9D25-D56A-8C31-4351783B9064}"/>
                </a:ext>
              </a:extLst>
            </p:cNvPr>
            <p:cNvSpPr/>
            <p:nvPr/>
          </p:nvSpPr>
          <p:spPr>
            <a:xfrm>
              <a:off x="5515084" y="303013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374A062-8A4D-73F7-3A58-75A47592A2B5}"/>
                </a:ext>
              </a:extLst>
            </p:cNvPr>
            <p:cNvSpPr/>
            <p:nvPr/>
          </p:nvSpPr>
          <p:spPr>
            <a:xfrm>
              <a:off x="5893775" y="303013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9C540A4-62E9-3544-8E62-55D4F6B66710}"/>
                </a:ext>
              </a:extLst>
            </p:cNvPr>
            <p:cNvSpPr/>
            <p:nvPr/>
          </p:nvSpPr>
          <p:spPr>
            <a:xfrm>
              <a:off x="4757702" y="3394630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DF139A4-9DA9-75C7-ED2C-B78650E27459}"/>
                </a:ext>
              </a:extLst>
            </p:cNvPr>
            <p:cNvSpPr/>
            <p:nvPr/>
          </p:nvSpPr>
          <p:spPr>
            <a:xfrm>
              <a:off x="5136393" y="339462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1337838-DAC6-F777-935B-6FAEBA3EC43B}"/>
                </a:ext>
              </a:extLst>
            </p:cNvPr>
            <p:cNvSpPr/>
            <p:nvPr/>
          </p:nvSpPr>
          <p:spPr>
            <a:xfrm>
              <a:off x="5515084" y="3394630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71056CD-02C7-902B-4D97-428125BE3FE2}"/>
                </a:ext>
              </a:extLst>
            </p:cNvPr>
            <p:cNvSpPr/>
            <p:nvPr/>
          </p:nvSpPr>
          <p:spPr>
            <a:xfrm>
              <a:off x="5893775" y="339462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9FA8F6C-A711-EF96-6F91-F8B8A912CD5F}"/>
                </a:ext>
              </a:extLst>
            </p:cNvPr>
            <p:cNvSpPr/>
            <p:nvPr/>
          </p:nvSpPr>
          <p:spPr>
            <a:xfrm>
              <a:off x="4757702" y="3759126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15DC630-14BC-FB4A-9C25-EDEE6C198BD6}"/>
                </a:ext>
              </a:extLst>
            </p:cNvPr>
            <p:cNvSpPr/>
            <p:nvPr/>
          </p:nvSpPr>
          <p:spPr>
            <a:xfrm>
              <a:off x="5136393" y="375912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AE77825-0E10-A2E2-FF46-580722A164AB}"/>
                </a:ext>
              </a:extLst>
            </p:cNvPr>
            <p:cNvSpPr/>
            <p:nvPr/>
          </p:nvSpPr>
          <p:spPr>
            <a:xfrm>
              <a:off x="5515084" y="3759126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7A79EB0-4C41-6F66-64D5-12897F649F87}"/>
                </a:ext>
              </a:extLst>
            </p:cNvPr>
            <p:cNvSpPr/>
            <p:nvPr/>
          </p:nvSpPr>
          <p:spPr>
            <a:xfrm>
              <a:off x="5893775" y="375912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36641C1-1EB2-635A-EA48-09C495C5CC7D}"/>
                </a:ext>
              </a:extLst>
            </p:cNvPr>
            <p:cNvSpPr/>
            <p:nvPr/>
          </p:nvSpPr>
          <p:spPr>
            <a:xfrm>
              <a:off x="4757702" y="412362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CB99A82-F87F-C420-93DC-036EDF997563}"/>
                </a:ext>
              </a:extLst>
            </p:cNvPr>
            <p:cNvSpPr/>
            <p:nvPr/>
          </p:nvSpPr>
          <p:spPr>
            <a:xfrm>
              <a:off x="5136393" y="412362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164D60E-9785-C98F-C730-14091CC42FF6}"/>
                </a:ext>
              </a:extLst>
            </p:cNvPr>
            <p:cNvSpPr/>
            <p:nvPr/>
          </p:nvSpPr>
          <p:spPr>
            <a:xfrm>
              <a:off x="5515084" y="412362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866F163-15BD-96AA-AA02-4F41A1414E98}"/>
                </a:ext>
              </a:extLst>
            </p:cNvPr>
            <p:cNvSpPr/>
            <p:nvPr/>
          </p:nvSpPr>
          <p:spPr>
            <a:xfrm>
              <a:off x="5893775" y="412362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93BA6BB-9B10-A960-DD60-7F890281D30B}"/>
                </a:ext>
              </a:extLst>
            </p:cNvPr>
            <p:cNvSpPr/>
            <p:nvPr/>
          </p:nvSpPr>
          <p:spPr>
            <a:xfrm>
              <a:off x="6272466" y="303013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8539124-DF76-AA03-8A21-D3E8B39EBC20}"/>
                </a:ext>
              </a:extLst>
            </p:cNvPr>
            <p:cNvSpPr/>
            <p:nvPr/>
          </p:nvSpPr>
          <p:spPr>
            <a:xfrm>
              <a:off x="6272466" y="339462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D08809B-1AB3-C9D7-517D-DAB2A85E6082}"/>
                </a:ext>
              </a:extLst>
            </p:cNvPr>
            <p:cNvSpPr/>
            <p:nvPr/>
          </p:nvSpPr>
          <p:spPr>
            <a:xfrm>
              <a:off x="6272466" y="375912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303F767-5DF6-7CBC-FF8B-F16BB84B0A91}"/>
                </a:ext>
              </a:extLst>
            </p:cNvPr>
            <p:cNvSpPr/>
            <p:nvPr/>
          </p:nvSpPr>
          <p:spPr>
            <a:xfrm>
              <a:off x="6272466" y="412362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04205DF-F04C-7E58-1CE5-933EC9A75F51}"/>
                </a:ext>
              </a:extLst>
            </p:cNvPr>
            <p:cNvSpPr txBox="1"/>
            <p:nvPr/>
          </p:nvSpPr>
          <p:spPr>
            <a:xfrm>
              <a:off x="4606859" y="2858427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1,1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4E24842-24BA-E2E7-CAF2-D62B8E7666BF}"/>
                </a:ext>
              </a:extLst>
            </p:cNvPr>
            <p:cNvSpPr txBox="1"/>
            <p:nvPr/>
          </p:nvSpPr>
          <p:spPr>
            <a:xfrm>
              <a:off x="4613712" y="3214488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2,1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468F5ED-A5C6-CBE8-146E-36313A6F1AA7}"/>
                </a:ext>
              </a:extLst>
            </p:cNvPr>
            <p:cNvSpPr txBox="1"/>
            <p:nvPr/>
          </p:nvSpPr>
          <p:spPr>
            <a:xfrm>
              <a:off x="4608553" y="357498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3,1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B9729E7-D943-A705-33BE-3D3AACA9F2C6}"/>
                </a:ext>
              </a:extLst>
            </p:cNvPr>
            <p:cNvSpPr txBox="1"/>
            <p:nvPr/>
          </p:nvSpPr>
          <p:spPr>
            <a:xfrm>
              <a:off x="4615406" y="3931050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4,1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FAF64D3-FAF9-9A40-B82C-45621FC37C8A}"/>
                </a:ext>
              </a:extLst>
            </p:cNvPr>
            <p:cNvSpPr txBox="1"/>
            <p:nvPr/>
          </p:nvSpPr>
          <p:spPr>
            <a:xfrm>
              <a:off x="4999729" y="2858427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1,2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E6C0989-0348-1FD7-0B06-B2243938B7FB}"/>
                </a:ext>
              </a:extLst>
            </p:cNvPr>
            <p:cNvSpPr txBox="1"/>
            <p:nvPr/>
          </p:nvSpPr>
          <p:spPr>
            <a:xfrm>
              <a:off x="4606859" y="4283020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5,1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C4CBBB-70AF-BA99-6CF5-6DADF8F5893C}"/>
                </a:ext>
              </a:extLst>
            </p:cNvPr>
            <p:cNvSpPr txBox="1"/>
            <p:nvPr/>
          </p:nvSpPr>
          <p:spPr>
            <a:xfrm>
              <a:off x="6036335" y="285861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1,5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D879371-D4CF-C1ED-EA47-CECBADDE5B47}"/>
                </a:ext>
              </a:extLst>
            </p:cNvPr>
            <p:cNvSpPr txBox="1"/>
            <p:nvPr/>
          </p:nvSpPr>
          <p:spPr>
            <a:xfrm>
              <a:off x="6435670" y="2862672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1,6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25E721F-05C5-35BF-A801-5A6B4DA87E4A}"/>
              </a:ext>
            </a:extLst>
          </p:cNvPr>
          <p:cNvSpPr txBox="1"/>
          <p:nvPr/>
        </p:nvSpPr>
        <p:spPr>
          <a:xfrm>
            <a:off x="4539603" y="1082827"/>
            <a:ext cx="253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COSMAL Plot in MATLAB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B05E856-6C84-06D8-B9D2-63828EF01E8C}"/>
              </a:ext>
            </a:extLst>
          </p:cNvPr>
          <p:cNvGrpSpPr/>
          <p:nvPr/>
        </p:nvGrpSpPr>
        <p:grpSpPr>
          <a:xfrm>
            <a:off x="8678222" y="1724438"/>
            <a:ext cx="2235837" cy="1629083"/>
            <a:chOff x="4404445" y="3802572"/>
            <a:chExt cx="2235837" cy="1629083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61217EA-CC15-F9F5-2429-A62CAD8EC024}"/>
                </a:ext>
              </a:extLst>
            </p:cNvPr>
            <p:cNvSpPr/>
            <p:nvPr/>
          </p:nvSpPr>
          <p:spPr>
            <a:xfrm>
              <a:off x="4555288" y="380257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77DB7B2-5B16-E21D-5B6F-C925732B76B9}"/>
                </a:ext>
              </a:extLst>
            </p:cNvPr>
            <p:cNvSpPr/>
            <p:nvPr/>
          </p:nvSpPr>
          <p:spPr>
            <a:xfrm>
              <a:off x="4933979" y="380257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FC0196F-3FCC-A073-6E07-5AE22CD03409}"/>
                </a:ext>
              </a:extLst>
            </p:cNvPr>
            <p:cNvSpPr/>
            <p:nvPr/>
          </p:nvSpPr>
          <p:spPr>
            <a:xfrm>
              <a:off x="5312670" y="380257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0CADF76-039F-7B32-8A76-BA3CF6815994}"/>
                </a:ext>
              </a:extLst>
            </p:cNvPr>
            <p:cNvSpPr/>
            <p:nvPr/>
          </p:nvSpPr>
          <p:spPr>
            <a:xfrm>
              <a:off x="5691361" y="380257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2928CA2-5BA2-DF9B-E255-82CB7F0BF3DA}"/>
                </a:ext>
              </a:extLst>
            </p:cNvPr>
            <p:cNvSpPr/>
            <p:nvPr/>
          </p:nvSpPr>
          <p:spPr>
            <a:xfrm>
              <a:off x="4555288" y="4167070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23B069F-3D53-5D19-2426-C8215C9C4118}"/>
                </a:ext>
              </a:extLst>
            </p:cNvPr>
            <p:cNvSpPr/>
            <p:nvPr/>
          </p:nvSpPr>
          <p:spPr>
            <a:xfrm>
              <a:off x="4933979" y="416706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81BA91F-856D-CD93-B985-5297DA31A5AB}"/>
                </a:ext>
              </a:extLst>
            </p:cNvPr>
            <p:cNvSpPr/>
            <p:nvPr/>
          </p:nvSpPr>
          <p:spPr>
            <a:xfrm>
              <a:off x="5312670" y="4167070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1BB703C-2621-5227-099C-C2873B7F2ACE}"/>
                </a:ext>
              </a:extLst>
            </p:cNvPr>
            <p:cNvSpPr/>
            <p:nvPr/>
          </p:nvSpPr>
          <p:spPr>
            <a:xfrm>
              <a:off x="5691361" y="416706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320673A-DF85-5F1F-8D54-D66A05E3FAE4}"/>
                </a:ext>
              </a:extLst>
            </p:cNvPr>
            <p:cNvSpPr/>
            <p:nvPr/>
          </p:nvSpPr>
          <p:spPr>
            <a:xfrm>
              <a:off x="4555288" y="4531566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8BB040F-7A00-590F-0230-F9006F35C350}"/>
                </a:ext>
              </a:extLst>
            </p:cNvPr>
            <p:cNvSpPr/>
            <p:nvPr/>
          </p:nvSpPr>
          <p:spPr>
            <a:xfrm>
              <a:off x="4933979" y="453156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EE48016-4699-3342-F732-26D95A6FA937}"/>
                </a:ext>
              </a:extLst>
            </p:cNvPr>
            <p:cNvSpPr/>
            <p:nvPr/>
          </p:nvSpPr>
          <p:spPr>
            <a:xfrm>
              <a:off x="5312670" y="4531566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AE4CDF3-C22E-F291-9489-E3F96BD44573}"/>
                </a:ext>
              </a:extLst>
            </p:cNvPr>
            <p:cNvSpPr/>
            <p:nvPr/>
          </p:nvSpPr>
          <p:spPr>
            <a:xfrm>
              <a:off x="5691361" y="453156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53BC6EC6-E8F4-7508-1B44-A8659DD508EF}"/>
                </a:ext>
              </a:extLst>
            </p:cNvPr>
            <p:cNvSpPr/>
            <p:nvPr/>
          </p:nvSpPr>
          <p:spPr>
            <a:xfrm>
              <a:off x="4555288" y="489606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260A715-5FEB-D4D4-CFF8-D2BA80421B7C}"/>
                </a:ext>
              </a:extLst>
            </p:cNvPr>
            <p:cNvSpPr/>
            <p:nvPr/>
          </p:nvSpPr>
          <p:spPr>
            <a:xfrm>
              <a:off x="4933979" y="489606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5139EFB-B268-E303-6A04-6487773C8896}"/>
                </a:ext>
              </a:extLst>
            </p:cNvPr>
            <p:cNvSpPr/>
            <p:nvPr/>
          </p:nvSpPr>
          <p:spPr>
            <a:xfrm>
              <a:off x="5312670" y="4896063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DBA68D4-3112-0E9A-B797-566CFB6BA70C}"/>
                </a:ext>
              </a:extLst>
            </p:cNvPr>
            <p:cNvSpPr/>
            <p:nvPr/>
          </p:nvSpPr>
          <p:spPr>
            <a:xfrm>
              <a:off x="5691361" y="489606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221B997-6551-048B-EA0F-3A855F106D77}"/>
                </a:ext>
              </a:extLst>
            </p:cNvPr>
            <p:cNvSpPr/>
            <p:nvPr/>
          </p:nvSpPr>
          <p:spPr>
            <a:xfrm>
              <a:off x="6070052" y="380257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7E42EBF-6AEB-024D-B2E8-ED3137966C56}"/>
                </a:ext>
              </a:extLst>
            </p:cNvPr>
            <p:cNvSpPr/>
            <p:nvPr/>
          </p:nvSpPr>
          <p:spPr>
            <a:xfrm>
              <a:off x="6070052" y="4167069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5E10ACA-674C-5973-A048-9620FABB8AD6}"/>
                </a:ext>
              </a:extLst>
            </p:cNvPr>
            <p:cNvSpPr/>
            <p:nvPr/>
          </p:nvSpPr>
          <p:spPr>
            <a:xfrm>
              <a:off x="6070052" y="4531565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79B4F13-0BB7-17EE-E7CB-CC76B65F63DE}"/>
                </a:ext>
              </a:extLst>
            </p:cNvPr>
            <p:cNvSpPr/>
            <p:nvPr/>
          </p:nvSpPr>
          <p:spPr>
            <a:xfrm>
              <a:off x="6070052" y="4896062"/>
              <a:ext cx="378691" cy="364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675A637-E150-A49B-A718-F057E41885CD}"/>
                </a:ext>
              </a:extLst>
            </p:cNvPr>
            <p:cNvSpPr txBox="1"/>
            <p:nvPr/>
          </p:nvSpPr>
          <p:spPr>
            <a:xfrm>
              <a:off x="4406139" y="434742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3,1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E4B9CC5-C74F-11B1-4914-CAAC1D3D68CB}"/>
                </a:ext>
              </a:extLst>
            </p:cNvPr>
            <p:cNvSpPr txBox="1"/>
            <p:nvPr/>
          </p:nvSpPr>
          <p:spPr>
            <a:xfrm>
              <a:off x="4412992" y="4703490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2,1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0FFE61B-50AB-2A50-6E6D-6D465C7800AD}"/>
                </a:ext>
              </a:extLst>
            </p:cNvPr>
            <p:cNvSpPr txBox="1"/>
            <p:nvPr/>
          </p:nvSpPr>
          <p:spPr>
            <a:xfrm>
              <a:off x="4802041" y="5062323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1,2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457F714-76B2-94EE-80B6-E7241AD5211B}"/>
                </a:ext>
              </a:extLst>
            </p:cNvPr>
            <p:cNvSpPr txBox="1"/>
            <p:nvPr/>
          </p:nvSpPr>
          <p:spPr>
            <a:xfrm>
              <a:off x="4404445" y="5055460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1,1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89683F7-EB7D-E257-C5BE-9D5640C371D8}"/>
                </a:ext>
              </a:extLst>
            </p:cNvPr>
            <p:cNvSpPr txBox="1"/>
            <p:nvPr/>
          </p:nvSpPr>
          <p:spPr>
            <a:xfrm>
              <a:off x="5785179" y="505353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1,5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3ADC891-B585-6BD2-039C-CF558868D82B}"/>
                </a:ext>
              </a:extLst>
            </p:cNvPr>
            <p:cNvSpPr txBox="1"/>
            <p:nvPr/>
          </p:nvSpPr>
          <p:spPr>
            <a:xfrm>
              <a:off x="6163870" y="502256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1,6</a:t>
              </a: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5142C4F1-D619-C717-8F3A-DFB9283D8335}"/>
              </a:ext>
            </a:extLst>
          </p:cNvPr>
          <p:cNvSpPr txBox="1"/>
          <p:nvPr/>
        </p:nvSpPr>
        <p:spPr>
          <a:xfrm>
            <a:off x="8875733" y="1146923"/>
            <a:ext cx="246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Quiver3 Plot in MATLAB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CDC292F-8791-BBF6-EF46-2EDD9E3DC3AA}"/>
              </a:ext>
            </a:extLst>
          </p:cNvPr>
          <p:cNvSpPr txBox="1"/>
          <p:nvPr/>
        </p:nvSpPr>
        <p:spPr>
          <a:xfrm>
            <a:off x="8641642" y="3591868"/>
            <a:ext cx="3298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Use quiver3(mmx, </a:t>
            </a:r>
            <a:r>
              <a:rPr lang="en-US" dirty="0" err="1">
                <a:solidFill>
                  <a:srgbClr val="FF0000"/>
                </a:solidFill>
              </a:rPr>
              <a:t>mmy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mmz</a:t>
            </a:r>
            <a:r>
              <a:rPr lang="en-US" dirty="0">
                <a:solidFill>
                  <a:srgbClr val="FF0000"/>
                </a:solidFill>
              </a:rPr>
              <a:t>) results in opposite ordering in the vertical direction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5DA4FA8-E7FE-A4B3-34E9-F7634EEE4988}"/>
              </a:ext>
            </a:extLst>
          </p:cNvPr>
          <p:cNvSpPr txBox="1"/>
          <p:nvPr/>
        </p:nvSpPr>
        <p:spPr>
          <a:xfrm>
            <a:off x="4290424" y="3365424"/>
            <a:ext cx="3298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Use COSMAL 3D plot code (</a:t>
            </a:r>
            <a:r>
              <a:rPr lang="en-US" dirty="0" err="1">
                <a:solidFill>
                  <a:srgbClr val="0000FF"/>
                </a:solidFill>
              </a:rPr>
              <a:t>github</a:t>
            </a:r>
            <a:r>
              <a:rPr lang="en-US" dirty="0">
                <a:solidFill>
                  <a:srgbClr val="0000FF"/>
                </a:solidFill>
              </a:rPr>
              <a:t>) gives correct ordering that identical to the ordering of matrix number 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2C9A1313-B3FE-ACC8-FD13-28717FB3A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451" y="5235132"/>
            <a:ext cx="9440932" cy="653655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B2FEE77B-B62D-ABE6-0644-CEF195527B87}"/>
              </a:ext>
            </a:extLst>
          </p:cNvPr>
          <p:cNvSpPr txBox="1"/>
          <p:nvPr/>
        </p:nvSpPr>
        <p:spPr>
          <a:xfrm>
            <a:off x="4382269" y="6007466"/>
            <a:ext cx="3298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It is reflected in the reversed order in the code circled in red</a:t>
            </a:r>
          </a:p>
        </p:txBody>
      </p:sp>
      <p:sp>
        <p:nvSpPr>
          <p:cNvPr id="148" name="Arrow: Right 147">
            <a:extLst>
              <a:ext uri="{FF2B5EF4-FFF2-40B4-BE49-F238E27FC236}">
                <a16:creationId xmlns:a16="http://schemas.microsoft.com/office/drawing/2014/main" id="{77C96AE5-2828-818E-3AC3-4EDE96AA7E9B}"/>
              </a:ext>
            </a:extLst>
          </p:cNvPr>
          <p:cNvSpPr/>
          <p:nvPr/>
        </p:nvSpPr>
        <p:spPr>
          <a:xfrm rot="5400000">
            <a:off x="5446437" y="4764246"/>
            <a:ext cx="623932" cy="31784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36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5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03425" y="275445"/>
            <a:ext cx="2259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Initial state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210B75-8EB5-469C-8DDE-ACE67C3A04F9}"/>
              </a:ext>
            </a:extLst>
          </p:cNvPr>
          <p:cNvCxnSpPr/>
          <p:nvPr/>
        </p:nvCxnSpPr>
        <p:spPr>
          <a:xfrm>
            <a:off x="444063" y="899086"/>
            <a:ext cx="10424160" cy="0"/>
          </a:xfrm>
          <a:prstGeom prst="line">
            <a:avLst/>
          </a:prstGeom>
          <a:ln w="76200">
            <a:gradFill>
              <a:gsLst>
                <a:gs pos="0">
                  <a:srgbClr val="0000FF">
                    <a:alpha val="80000"/>
                  </a:srgbClr>
                </a:gs>
                <a:gs pos="50000">
                  <a:srgbClr val="008080">
                    <a:alpha val="80000"/>
                  </a:srgbClr>
                </a:gs>
                <a:gs pos="100000">
                  <a:srgbClr val="66FF66">
                    <a:alpha val="8000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6A8954E-27AE-4400-5560-4E23AB154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63" y="2675793"/>
            <a:ext cx="3904071" cy="38631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8B662C-5627-2DE8-31D0-C242D6099B62}"/>
              </a:ext>
            </a:extLst>
          </p:cNvPr>
          <p:cNvSpPr txBox="1"/>
          <p:nvPr/>
        </p:nvSpPr>
        <p:spPr>
          <a:xfrm>
            <a:off x="6621721" y="4024815"/>
            <a:ext cx="4535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/>
              <a:t>OneDrive</a:t>
            </a:r>
            <a:r>
              <a:rPr lang="en-US" altLang="zh-CN" dirty="0"/>
              <a:t>\code_softwares\atomistic_model\2D\docs\compare_plot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D3E5F0-C999-8B81-D7EC-5BB08B0174D5}"/>
              </a:ext>
            </a:extLst>
          </p:cNvPr>
          <p:cNvSpPr txBox="1"/>
          <p:nvPr/>
        </p:nvSpPr>
        <p:spPr>
          <a:xfrm>
            <a:off x="4733781" y="2154945"/>
            <a:ext cx="4535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The result shows the plot of W and L directions are correct. See the atom </a:t>
            </a:r>
            <a:r>
              <a:rPr lang="en-US" altLang="zh-CN"/>
              <a:t>configuration in “</a:t>
            </a:r>
            <a:r>
              <a:rPr lang="en-US" altLang="zh-CN" dirty="0" err="1"/>
              <a:t>goodnotes</a:t>
            </a:r>
            <a:r>
              <a:rPr lang="en-US" altLang="zh-CN" dirty="0"/>
              <a:t>, Benchmark 3x5, Oct.08”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2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444063" y="195795"/>
            <a:ext cx="2060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Plot order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6957" y="1107617"/>
            <a:ext cx="300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Matrix numbering in MATLAB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DB3A99-F123-4CD3-92BB-FEEDF0A6FB55}"/>
              </a:ext>
            </a:extLst>
          </p:cNvPr>
          <p:cNvCxnSpPr/>
          <p:nvPr/>
        </p:nvCxnSpPr>
        <p:spPr>
          <a:xfrm>
            <a:off x="444063" y="899086"/>
            <a:ext cx="10424160" cy="0"/>
          </a:xfrm>
          <a:prstGeom prst="line">
            <a:avLst/>
          </a:prstGeom>
          <a:ln w="76200">
            <a:gradFill>
              <a:gsLst>
                <a:gs pos="0">
                  <a:srgbClr val="0000FF">
                    <a:alpha val="80000"/>
                  </a:srgbClr>
                </a:gs>
                <a:gs pos="50000">
                  <a:srgbClr val="008080">
                    <a:alpha val="80000"/>
                  </a:srgbClr>
                </a:gs>
                <a:gs pos="100000">
                  <a:srgbClr val="66FF66">
                    <a:alpha val="8000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78DF9281-1751-3DC3-7E24-55333AD2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5EF43-983D-4372-9D92-A60BC6962E4E}" type="slidenum">
              <a:rPr lang="en-US" smtClean="0"/>
              <a:t>6</a:t>
            </a:fld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25E721F-05C5-35BF-A801-5A6B4DA87E4A}"/>
              </a:ext>
            </a:extLst>
          </p:cNvPr>
          <p:cNvSpPr txBox="1"/>
          <p:nvPr/>
        </p:nvSpPr>
        <p:spPr>
          <a:xfrm>
            <a:off x="4539603" y="1082827"/>
            <a:ext cx="253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COSMAL Plot in MATLAB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142C4F1-D619-C717-8F3A-DFB9283D8335}"/>
              </a:ext>
            </a:extLst>
          </p:cNvPr>
          <p:cNvSpPr txBox="1"/>
          <p:nvPr/>
        </p:nvSpPr>
        <p:spPr>
          <a:xfrm>
            <a:off x="8875733" y="1146923"/>
            <a:ext cx="246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Quiver3 Plot in MATLAB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783E8A-4603-487A-62C6-D48BFCDA4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293" y="1850563"/>
            <a:ext cx="3345414" cy="3424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88D875-AA33-182F-C2F3-99B36BB64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0492"/>
            <a:ext cx="3897633" cy="14744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450595-B485-8797-A077-672952677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940" y="2317007"/>
            <a:ext cx="4445960" cy="22239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EA5508-BF81-F460-AEB8-AF3FC12288E5}"/>
              </a:ext>
            </a:extLst>
          </p:cNvPr>
          <p:cNvSpPr txBox="1"/>
          <p:nvPr/>
        </p:nvSpPr>
        <p:spPr>
          <a:xfrm>
            <a:off x="8668938" y="5035582"/>
            <a:ext cx="3298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These two Gd atoms are in wrong location</a:t>
            </a:r>
          </a:p>
        </p:txBody>
      </p:sp>
    </p:spTree>
    <p:extLst>
      <p:ext uri="{BB962C8B-B14F-4D97-AF65-F5344CB8AC3E}">
        <p14:creationId xmlns:p14="http://schemas.microsoft.com/office/powerpoint/2010/main" val="5717959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911.886"/>
  <p:tag name="LATEXADDIN" val="\documentclass{article}&#10;\usepackage{amsmath}&#10;\pagestyle{empty}&#10;\begin{document}&#10; \noindent&#10;\begin{equation}&#10;B_\mathrm{D}=\frac{\hbar}{2}\frac{J_\mathrm{C}\theta_\mathrm{SH}}{eM_\mathrm{s}t_\mathrm{FiM}}\nonumber&#10;\end{equation}&#10; &#10;\end{document}"/>
  <p:tag name="IGUANATEXSIZE" val="20"/>
  <p:tag name="IGUANATEXCURSOR" val="200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3627.296"/>
  <p:tag name="LATEXADDIN" val="\documentclass{article}&#10;\usepackage{amsmath}&#10;\pagestyle{empty}&#10;\begin{document}&#10; \noindent&#10;\begin{equation}&#10;  \frac{{\partial}\mathbf{S}_i}{{\partial}t}=-\gamma\mathbf{S}_i\times\mathbf{H}_{\mathrm{eff}}+\alpha\mathbf{S}_i\times\frac{{\partial}\mathbf{S}_i}{{\partial}t}-{\gamma}B_\mathrm{D}\mathbf{S}_i\times(\mathbf{S}_i\times\mathbf{\hat{y}})+{\gamma}B_\mathrm{F}\mathbf{S}_i\times\mathbf{\hat{y}}\nonumber&#10;\end{equation}&#10;&#10;&#10;\end{document}"/>
  <p:tag name="IGUANATEXSIZE" val="20"/>
  <p:tag name="IGUANATEXCURSOR" val="399"/>
  <p:tag name="TRANSPARENCY" val="True"/>
  <p:tag name="FILENAME" val=""/>
  <p:tag name="LATEXENGINEID" val="0"/>
  <p:tag name="TEMPFOLDER" val="E:\Program Files (x86)\IguanaTex\"/>
  <p:tag name="LATEXFORMHEIGHT" val="312"/>
  <p:tag name="LATEXFORMWIDTH" val="462.6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143"/>
  <p:tag name="ORIGINALWIDTH" val="767.1541"/>
  <p:tag name="LATEXADDIN" val="\documentclass{article}&#10;\usepackage{amsmath}&#10;\pagestyle{empty}&#10;\begin{document}&#10; \noindent&#10;\begin{equation}&#10;  \mathbf{H}_i=-\frac{1}{\mu_i}\frac{\partial{\mathcal{H}}}{\partial{\mathbf{S}}_i}\nonumber&#10;\end{equation}&#10; &#10;\end{document}"/>
  <p:tag name="IGUANATEXSIZE" val="20"/>
  <p:tag name="IGUANATEXCURSOR" val="164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3.4158"/>
  <p:tag name="ORIGINALWIDTH" val="3316.085"/>
  <p:tag name="LATEXADDIN" val="\documentclass{article}&#10;\usepackage{amsmath}&#10;\pagestyle{empty}&#10;\begin{document}&#10; \noindent&#10;\begin{equation}&#10;\begin{aligned}&#10;\mathcal{H}&amp;=A\displaystyle\sum_{i}\mathbf{S}_i\cdot\mathbf{S}_{i+1}-D\sum_{i}(\hat{\mathbf{y}}\cdot(\mathbf{S}_i\times\mathbf{S}_{i+x})-\hat{\mathbf{x}}\cdot(\mathbf{S}_i\times\mathbf{S}_{i+y}))\\&#10;&amp;-K\displaystyle\sum_{i}(\mathbf{S}_i\cdot\hat{\mathbf{z}})^2-\frac{\mu_0}{4\pi}\displaystyle\sum_{j{\neq}i}{\frac{3(\mathbf{R}_{ij}\cdot\mathbf{\mu}_i)(\mathbf{R}_{ij}\cdot\mathbf{\mu}_j)}{R_{ij}^5}-\frac{\mathbf{\mu}_i\cdot\mathbf{\mu}_j}{R_{ij}^3}}\nonumber&#10;\end{aligned}&#10;\end{equation}&#10;&#10; &#10;\end{document}"/>
  <p:tag name="IGUANATEXSIZE" val="20"/>
  <p:tag name="IGUANATEXCURSOR" val="132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0.9598"/>
  <p:tag name="ORIGINALWIDTH" val="1073.866"/>
  <p:tag name="LATEXADDIN" val="\documentclass{article}&#10;\usepackage{amsmath}&#10;\pagestyle{empty}&#10;\begin{document}&#10; \noindent&#10;\begin{equation}&#10;\mathbf{H}_{\mathrm{ex}}=-\frac{A}{\mu_i}\displaystyle\sum_{i}\mathbf{S}_{i+1}\nonumber&#10;\end{equation}&#10;\end{document}"/>
  <p:tag name="IGUANATEXSIZE" val="20"/>
  <p:tag name="IGUANATEXCURSOR" val="141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6.4605"/>
  <p:tag name="ORIGINALWIDTH" val="1056.618"/>
  <p:tag name="LATEXADDIN" val="\documentclass{article}&#10;\usepackage{amsmath}&#10;\pagestyle{empty}&#10;\begin{document}&#10; \noindent&#10;\begin{equation}&#10;\mathbf{H}_{\mathrm{an}}=\frac{2K}{\mu_i}\displaystyle\sum_{i}S_i^z\hat{e}_z\nonumber&#10;\end{equation}&#10;\end{document}"/>
  <p:tag name="IGUANATEXSIZE" val="20"/>
  <p:tag name="IGUANATEXCURSOR" val="130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4242.969"/>
  <p:tag name="LATEXADDIN" val="\documentclass{article}&#10;\usepackage{amsmath}&#10;\pagestyle{empty}&#10;\begin{document}&#10; \noindent&#10;\begin{equation}&#10;  \mathbf{H}_{\mathrm{DMI}}=\frac{D}{\mu_i}(S_{i-x,z}-S_{i+x,z},S_{i-y,z}-S_{i+y,z},S_{i+x,x}-S_{i-x,x}+S_{i+y,y}-S_{i-y,y})\nonumber&#10;\end{equation}&#10; &#10;\end{document}"/>
  <p:tag name="IGUANATEXSIZE" val="20"/>
  <p:tag name="IGUANATEXCURSOR" val="120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7.2103"/>
  <p:tag name="ORIGINALWIDTH" val="2860.892"/>
  <p:tag name="LATEXADDIN" val="\documentclass{article}&#10;\usepackage{amsmath}&#10;\pagestyle{empty}&#10;\begin{document}&#10; \noindent&#10;&#10;  \begin{equation}&#10;\begin{aligned}&#10;\mathcal{H}_{\mathrm{DMI}}=&amp;-\mathbf{D}_{i,i+x}\cdot(\mathbf{S}_i\times\mathbf{S}_{i+x})-\mathbf{D}_{i,i-x}\cdot(\mathbf{S}_i\times\mathbf{S}_{i-x})\\&#10;&amp;-\mathbf{D}_{i,i+y}\cdot(\mathbf{S}_i\times\mathbf{S}_{i+y})-\mathbf{D}_{i,i-y}\cdot(\mathbf{S}_i\times\mathbf{S}_{i-y})\nonumber&#10;\end{aligned}&#10;\end{equation}&#10;&#10;\end{document}"/>
  <p:tag name="IGUANATEXSIZE" val="20"/>
  <p:tag name="IGUANATEXCURSOR" val="137"/>
  <p:tag name="TRANSPARENCY" val="True"/>
  <p:tag name="FILENAME" val=""/>
  <p:tag name="LATEXENGINEID" val="0"/>
  <p:tag name="TEMPFOLDER" val="E:\Program Files (x86)\IguanaTex\"/>
  <p:tag name="LATEXFORMHEIGHT" val="373.8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6.4567"/>
  <p:tag name="ORIGINALWIDTH" val="2624.672"/>
  <p:tag name="LATEXADDIN" val="\documentclass{article}&#10;\usepackage{amsmath}&#10;\pagestyle{empty}&#10;\begin{document}&#10; \noindent&#10;\begin{equation}&#10;\mathcal{H}_\mathrm{dipole}=-\frac{\mu_0}{4\pi}\displaystyle\sum_{j{\neq}i}{\frac{3(\mathbf{R}_{ij}\cdot\mathbf{\mu}_i)(\mathbf{R}_{ij}\cdot\mathbf{\mu}_j)}{R_{ij}^5}-\frac{\mathbf{\mu}_i\cdot\mathbf{\mu}_j}{R_{ij}^3}}\nonumber&#10;\end{equation}&#10;\end{document}"/>
  <p:tag name="IGUANATEXSIZE" val="20"/>
  <p:tag name="IGUANATEXCURSOR" val="120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6.4567"/>
  <p:tag name="ORIGINALWIDTH" val="3016.123"/>
  <p:tag name="LATEXADDIN" val="\documentclass{article}&#10;\usepackage{amsmath}&#10;\pagestyle{empty}&#10;\begin{document}&#10; \noindent&#10;\begin{equation}&#10;\mathbf{H}_\mathrm{dipole}=-\frac{1}{\mu_i}\frac{{\partial}E}{{\partial}\mathbf{S}_i}=\frac{\mu_0}{4\pi}\displaystyle\sum_{j{\neq}i}{\frac{3(\mathbf{R}_{ij})(\mathbf{R}_{ij}\cdot\mu_j\mathbf{S}_j)}{R_{ij}^5}-\frac{\mu_j\mathbf{S}_j}{R_{ij}^3}}\nonumber&#10;\end{equation}&#10;\end{document}"/>
  <p:tag name="IGUANATEXSIZE" val="20"/>
  <p:tag name="IGUANATEXCURSOR" val="134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1130.109"/>
  <p:tag name="LATEXADDIN" val="\documentclass{article}&#10;\usepackage{amsmath}&#10;\pagestyle{empty}&#10;\begin{document}&#10; \noindent&#10;\begin{equation}&#10;\mathcal{H}_\mathrm{ex}=A\displaystyle\sum_{i}\mathbf{S}_i\cdot\mathbf{S}_{i+1}\nonumber&#10;\end{equation}&#10;\end{document}"/>
  <p:tag name="IGUANATEXSIZE" val="20"/>
  <p:tag name="IGUANATEXCURSOR" val="130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1208.099"/>
  <p:tag name="LATEXADDIN" val="\documentclass{article}&#10;\usepackage{amsmath}&#10;\pagestyle{empty}&#10;\begin{document}&#10; \noindent&#10;\begin{equation}&#10;\mathcal{H}_\mathrm{an}=-K\displaystyle\sum_{i}(\mathbf{S}_i\cdot\hat{\mathbf{z}})^2\nonumber&#10; \end{equation}&#10;\end{document}"/>
  <p:tag name="IGUANATEXSIZE" val="20"/>
  <p:tag name="IGUANATEXCURSOR" val="130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.4848"/>
  <p:tag name="ORIGINALWIDTH" val="2744.657"/>
  <p:tag name="LATEXADDIN" val="\documentclass{article}&#10;\usepackage{amsmath}&#10;\pagestyle{empty}&#10;\begin{document}&#10; \noindent&#10;\begin{equation}&#10;  \mathbf{H}_\mathrm{eff}=\mathbf{H}_\mathrm{ex}+\mathbf{H}_\mathrm{an}+\mathbf{H}_\mathrm{dipole}+\mathbf{H}_\mathrm{DMI}+\mathbf{H}_\mathrm{ext}+\mathbf{H}_\mathrm{th}\nonumber&#10;\end{equation}&#10; &#10;\end{document}"/>
  <p:tag name="IGUANATEXSIZE" val="20"/>
  <p:tag name="IGUANATEXCURSOR" val="277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121.86"/>
  <p:tag name="LATEXADDIN" val="\documentclass{article}&#10;\usepackage{amsmath}&#10;\pagestyle{empty}&#10;\begin{document}&#10; \noindent&#10;\begin{equation}&#10;\mathbf{H}_\mathrm{th}^i=\mathbf{\Gamma}(t)\sqrt{\frac{2{\lambda}k_\mathrm{B}T}{{\gamma}\mu_i{\Delta}t}}\nonumber&#10;\end{equation}&#10;\end{document}"/>
  <p:tag name="IGUANATEXSIZE" val="20"/>
  <p:tag name="IGUANATEXCURSOR" val="200"/>
  <p:tag name="TRANSPARENCY" val="True"/>
  <p:tag name="FILENAME" val=""/>
  <p:tag name="LATEXENGINEID" val="0"/>
  <p:tag name="TEMPFOLDER" val="E:\Program Files (x86)\IguanaTex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11655</TotalTime>
  <Words>346</Words>
  <Application>Microsoft Office PowerPoint</Application>
  <PresentationFormat>Widescreen</PresentationFormat>
  <Paragraphs>70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Zhifeng Zhu</dc:creator>
  <cp:lastModifiedBy>Zhifeng Zhu</cp:lastModifiedBy>
  <cp:revision>1577</cp:revision>
  <dcterms:created xsi:type="dcterms:W3CDTF">2017-04-27T06:55:21Z</dcterms:created>
  <dcterms:modified xsi:type="dcterms:W3CDTF">2026-06-09T02:13:56Z</dcterms:modified>
</cp:coreProperties>
</file>